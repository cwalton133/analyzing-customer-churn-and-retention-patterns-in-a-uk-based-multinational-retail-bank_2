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Churn Analysis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Analyzing Customer Churn and Retention Patterns</a:t>
            </a:r>
          </a:p>
          <a:p>
            <a:r>
              <a:t>UK Multinational Retail Bank</a:t>
            </a:r>
          </a:p>
          <a:p>
            <a:r>
              <a:t>Presenter: Charles Akintola Walton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Rising customer churn across regions</a:t>
            </a:r>
          </a:p>
          <a:p>
            <a:r>
              <a:t>• Increased competition from fintech and digital banks</a:t>
            </a:r>
          </a:p>
          <a:p>
            <a:r>
              <a:t>• Limited segmentation and predictive monitoring</a:t>
            </a:r>
          </a:p>
          <a:p>
            <a:r>
              <a:t>• Need for data‑driven retention strategy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Identify churn drivers</a:t>
            </a:r>
          </a:p>
          <a:p>
            <a:r>
              <a:t>• Segment customers by risk level</a:t>
            </a:r>
          </a:p>
          <a:p>
            <a:r>
              <a:t>• Detect high‑value at‑risk customers</a:t>
            </a:r>
          </a:p>
          <a:p>
            <a:r>
              <a:t>• Provide actionable insights</a:t>
            </a:r>
          </a:p>
          <a:p>
            <a:r>
              <a:t>• Support executive decision‑making dashboards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10,000 customers</a:t>
            </a:r>
          </a:p>
          <a:p>
            <a:r>
              <a:t>• Demographics, account, and engagement data</a:t>
            </a:r>
          </a:p>
          <a:p>
            <a:r>
              <a:t>• Credit score, balance, tenure, products</a:t>
            </a:r>
          </a:p>
          <a:p>
            <a:r>
              <a:t>• Activity status and churn indicator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CRISP‑DM Framework</a:t>
            </a:r>
          </a:p>
          <a:p/>
          <a:p>
            <a:r>
              <a:t>1. Business Understanding</a:t>
            </a:r>
          </a:p>
          <a:p>
            <a:r>
              <a:t>2. Data Understanding</a:t>
            </a:r>
          </a:p>
          <a:p>
            <a:r>
              <a:t>3. Data Preparation</a:t>
            </a:r>
          </a:p>
          <a:p>
            <a:r>
              <a:t>4. Modeling</a:t>
            </a:r>
          </a:p>
          <a:p>
            <a:r>
              <a:t>5. Evaluation</a:t>
            </a:r>
          </a:p>
          <a:p>
            <a:r>
              <a:t>6. Deployment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Preparation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Duplicate validation</a:t>
            </a:r>
          </a:p>
          <a:p>
            <a:r>
              <a:t>• Null value checks</a:t>
            </a:r>
          </a:p>
          <a:p>
            <a:r>
              <a:t>• Outlier analysis</a:t>
            </a:r>
          </a:p>
          <a:p>
            <a:r>
              <a:t>• Feature engineering</a:t>
            </a:r>
          </a:p>
          <a:p>
            <a:r>
              <a:t>• Segmentation logic</a:t>
            </a:r>
          </a:p>
          <a:p>
            <a:r>
              <a:t>• Analytical view creation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Total Customers</a:t>
            </a:r>
          </a:p>
          <a:p>
            <a:r>
              <a:t>• Churn Rate</a:t>
            </a:r>
          </a:p>
          <a:p>
            <a:r>
              <a:t>• Avg Balance</a:t>
            </a:r>
          </a:p>
          <a:p>
            <a:r>
              <a:t>• Avg Credit Score</a:t>
            </a:r>
          </a:p>
          <a:p>
            <a:r>
              <a:t>• Engagement Score</a:t>
            </a:r>
          </a:p>
          <a:p>
            <a:r>
              <a:t>• Risk Score</a:t>
            </a:r>
          </a:p>
          <a:p>
            <a:r>
              <a:t>• Value at Risk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Churn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Customers: 10,000</a:t>
            </a:r>
          </a:p>
          <a:p>
            <a:r>
              <a:t>Churned Customers: 1,385</a:t>
            </a:r>
          </a:p>
          <a:p>
            <a:r>
              <a:t>Overall Churn Rate: 13.85%</a:t>
            </a:r>
          </a:p>
          <a:p/>
          <a:p>
            <a:r>
              <a:t>Insight: Churn is significant and requires proactive monitoring.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Drivers of Churn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Low engagement</a:t>
            </a:r>
          </a:p>
          <a:p>
            <a:r>
              <a:t>• Low product ownership</a:t>
            </a:r>
          </a:p>
          <a:p>
            <a:r>
              <a:t>• Poor credit scores</a:t>
            </a:r>
          </a:p>
          <a:p>
            <a:r>
              <a:t>• Short tenure</a:t>
            </a:r>
          </a:p>
          <a:p>
            <a:r>
              <a:t>• Low account balances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Segmentation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Customers segmented into:</a:t>
            </a:r>
          </a:p>
          <a:p>
            <a:r>
              <a:t>• High Risk</a:t>
            </a:r>
          </a:p>
          <a:p>
            <a:r>
              <a:t>• Elevated Risk</a:t>
            </a:r>
          </a:p>
          <a:p>
            <a:r>
              <a:t>• Medium Risk</a:t>
            </a:r>
          </a:p>
          <a:p>
            <a:r>
              <a:t>• Low Risk</a:t>
            </a:r>
          </a:p>
          <a:p/>
          <a:p>
            <a:r>
              <a:t>Based on financial + behavioral indicators.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 Value Customers at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Finding:</a:t>
            </a:r>
          </a:p>
          <a:p>
            <a:r>
              <a:t>Some high‑balance customers fall into high‑risk segments.</a:t>
            </a:r>
          </a:p>
          <a:p/>
          <a:p>
            <a:r>
              <a:t>This group represents the highest financial retention priority.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Engagement strongly predicts churn</a:t>
            </a:r>
          </a:p>
          <a:p>
            <a:r>
              <a:t>• Product adoption reduces churn risk</a:t>
            </a:r>
          </a:p>
          <a:p>
            <a:r>
              <a:t>• High‑value customers are not always loyal</a:t>
            </a:r>
          </a:p>
          <a:p>
            <a:r>
              <a:t>• Risk varies by region</a:t>
            </a:r>
          </a:p>
          <a:p>
            <a:r>
              <a:t>• Behavioral indicators outperform demographics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Launch proactive retention campaigns</a:t>
            </a:r>
          </a:p>
          <a:p>
            <a:r>
              <a:t>• Personalize engagement strategies</a:t>
            </a:r>
          </a:p>
          <a:p>
            <a:r>
              <a:t>• Target high‑value at‑risk customers</a:t>
            </a:r>
          </a:p>
          <a:p>
            <a:r>
              <a:t>• Increase product cross‑selling</a:t>
            </a:r>
          </a:p>
          <a:p>
            <a:r>
              <a:t>• Implement real‑time churn monitoring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Expected Outcomes:</a:t>
            </a:r>
          </a:p>
          <a:p>
            <a:r>
              <a:t>• Reduced churn rate</a:t>
            </a:r>
          </a:p>
          <a:p>
            <a:r>
              <a:t>• Higher customer lifetime value</a:t>
            </a:r>
          </a:p>
          <a:p>
            <a:r>
              <a:t>• Improved customer experience</a:t>
            </a:r>
          </a:p>
          <a:p>
            <a:r>
              <a:t>• Data‑driven decision culture</a:t>
            </a:r>
          </a:p>
          <a:p>
            <a:r>
              <a:t>• Stronger competitive advantage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analysis transforms raw customer data into strategic insight.</a:t>
            </a:r>
          </a:p>
          <a:p/>
          <a:p>
            <a:r>
              <a:t>The dashboard provides leadership with real‑time visibility</a:t>
            </a:r>
          </a:p>
          <a:p>
            <a:r>
              <a:t>into churn risk, customer value, and retention opportunities.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